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Lato" panose="020F0502020204030203" pitchFamily="34" charset="0"/>
      <p:regular r:id="rId21"/>
      <p:bold r:id="rId22"/>
      <p:italic r:id="rId23"/>
      <p:boldItalic r:id="rId24"/>
    </p:embeddedFont>
    <p:embeddedFont>
      <p:font typeface="Poppins" panose="020B0502040204020203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7CCEB7D-32CB-463F-8DCD-DF3A37646BDE}">
  <a:tblStyle styleId="{A7CCEB7D-32CB-463F-8DCD-DF3A37646BD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jpg"/><Relationship Id="rId5" Type="http://schemas.openxmlformats.org/officeDocument/2006/relationships/image" Target="../media/image28.png"/><Relationship Id="rId4" Type="http://schemas.openxmlformats.org/officeDocument/2006/relationships/image" Target="../media/image27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E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800463" y="1951732"/>
            <a:ext cx="8591073" cy="150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Cricket Ball Trajectory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&amp; LBW Decision System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005012" y="3650753"/>
            <a:ext cx="8181975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F0FF"/>
                </a:solidFill>
                <a:latin typeface="Lato"/>
                <a:ea typeface="Lato"/>
                <a:cs typeface="Lato"/>
                <a:sym typeface="Lato"/>
              </a:rPr>
              <a:t>DAA Semester Project: Algorithmic Sports Analytics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005012" y="4458444"/>
            <a:ext cx="81819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Presented by: Semester Project Team</a:t>
            </a:r>
            <a:endParaRPr/>
          </a:p>
        </p:txBody>
      </p:sp>
      <p:pic>
        <p:nvPicPr>
          <p:cNvPr id="88" name="Google Shape;88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67475" y="1104900"/>
            <a:ext cx="571500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E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14537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81025" y="2014537"/>
            <a:ext cx="549068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F0FF"/>
                </a:solidFill>
                <a:latin typeface="Poppins"/>
                <a:ea typeface="Poppins"/>
                <a:cs typeface="Poppins"/>
                <a:sym typeface="Poppins"/>
              </a:rPr>
              <a:t>The LBW Complexity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81025" y="2614612"/>
            <a:ext cx="52292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Leg Before Wicket (LBW) decisions are among the most controversial and complex judgments in cricket. They require analyzing multiple factors simultaneously: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81025" y="5091112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0055"/>
                </a:solidFill>
                <a:latin typeface="Lato"/>
                <a:ea typeface="Lato"/>
                <a:cs typeface="Lato"/>
                <a:sym typeface="Lato"/>
              </a:rPr>
              <a:t>Manual decisions are highly prone to human error and parallax bias.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47725" y="37004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62025" y="3700462"/>
            <a:ext cx="48482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Ball's initial flight path and curve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47725" y="40052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62025" y="4005262"/>
            <a:ext cx="48482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Exact location of the pitch point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47725" y="43100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62025" y="4310062"/>
            <a:ext cx="48482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Point of impact on the batsman's padding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47725" y="46148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962025" y="4614862"/>
            <a:ext cx="48482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Hypothetical prediction of the path after impact</a:t>
            </a:r>
            <a:endParaRPr/>
          </a:p>
        </p:txBody>
      </p:sp>
      <p:pic>
        <p:nvPicPr>
          <p:cNvPr id="106" name="Google Shape;10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00800" y="2033587"/>
            <a:ext cx="5191125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771525" y="581025"/>
            <a:ext cx="11381422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Problem Statement</a:t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581025" y="581025"/>
            <a:ext cx="57150" cy="6191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E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771525" y="1366837"/>
            <a:ext cx="4990623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Real-World Relevance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581025" y="1366837"/>
            <a:ext cx="57150" cy="123825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581025" y="2795587"/>
            <a:ext cx="519064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F0FF"/>
                </a:solidFill>
                <a:latin typeface="Poppins"/>
                <a:ea typeface="Poppins"/>
                <a:cs typeface="Poppins"/>
                <a:sym typeface="Poppins"/>
              </a:rPr>
              <a:t>Modern Sports Analytics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581025" y="3395662"/>
            <a:ext cx="49434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Modern cricket relies on systems like Hawk-Eye and Virtual Eye to assist umpires. This technology has revolutionized fair play and broadcast transparency.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581025" y="4452937"/>
            <a:ext cx="49434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This project demonstrates the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foundational algorithms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that power these multi-million dollar systems, proving how DAA principles can solve high-stakes spatial problems.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E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2286000" y="1581596"/>
            <a:ext cx="809625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Trajectory Computation: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Using mathematical modeling to map discrete points to a continuous curve.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2286000" y="2551062"/>
            <a:ext cx="809625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Impact Detection: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Algorithmically detecting the exact point of obstruction at the padding plane.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2286000" y="3520529"/>
            <a:ext cx="809625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Path Prediction: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Extrapolating the delivery path beyond the impact point using physics-based modeling.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2286000" y="4489995"/>
            <a:ext cx="809625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Collision Logic: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Evaluating the "OUT" or "NOT OUT" verdict through 3D boundary checks.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2286000" y="5459462"/>
            <a:ext cx="809625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Complexity Analysis: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Benchmarking performance to ensure linear-time real-time processing.</a:t>
            </a:r>
            <a:endParaRPr/>
          </a:p>
        </p:txBody>
      </p:sp>
      <p:pic>
        <p:nvPicPr>
          <p:cNvPr id="130" name="Google Shape;13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1624458"/>
            <a:ext cx="2000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259392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3563391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09750" y="4532858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809750" y="5502324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771525" y="429071"/>
            <a:ext cx="11381422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Project Objectives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581025" y="429071"/>
            <a:ext cx="57150" cy="6191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E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52675"/>
            <a:ext cx="3486150" cy="315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352675"/>
            <a:ext cx="3486150" cy="315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352675"/>
            <a:ext cx="3486150" cy="315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853916" y="3505200"/>
            <a:ext cx="294036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F0FF"/>
                </a:solidFill>
                <a:latin typeface="Poppins"/>
                <a:ea typeface="Poppins"/>
                <a:cs typeface="Poppins"/>
                <a:sym typeface="Poppins"/>
              </a:rPr>
              <a:t>Data Modeling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923925" y="4105275"/>
            <a:ext cx="28003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Constructing the trajectory curve from tracked coordinates using OLS regression.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4625816" y="3505200"/>
            <a:ext cx="294036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F0FF"/>
                </a:solidFill>
                <a:latin typeface="Poppins"/>
                <a:ea typeface="Poppins"/>
                <a:cs typeface="Poppins"/>
                <a:sym typeface="Poppins"/>
              </a:rPr>
              <a:t>Analytics Engine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4695825" y="4105275"/>
            <a:ext cx="28003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Applying numerical differentiation to calculate speed and spin telemetry.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8397716" y="3505200"/>
            <a:ext cx="294036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F0FF"/>
                </a:solidFill>
                <a:latin typeface="Poppins"/>
                <a:ea typeface="Poppins"/>
                <a:cs typeface="Poppins"/>
                <a:sym typeface="Poppins"/>
              </a:rPr>
              <a:t>Decision Rule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8467725" y="4105275"/>
            <a:ext cx="28003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Testing geometric intersection between predicted path and the wicket plane.</a:t>
            </a:r>
            <a:endParaRPr/>
          </a:p>
        </p:txBody>
      </p:sp>
      <p:pic>
        <p:nvPicPr>
          <p:cNvPr id="151" name="Google Shape;151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14550" y="2743200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57875" y="274320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29775" y="274320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771525" y="581025"/>
            <a:ext cx="11381422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Methodology Overview</a:t>
            </a:r>
            <a:endParaRPr/>
          </a:p>
        </p:txBody>
      </p:sp>
      <p:sp>
        <p:nvSpPr>
          <p:cNvPr id="155" name="Google Shape;155;p17"/>
          <p:cNvSpPr/>
          <p:nvPr/>
        </p:nvSpPr>
        <p:spPr>
          <a:xfrm>
            <a:off x="581025" y="581025"/>
            <a:ext cx="57150" cy="6191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E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835497"/>
            <a:ext cx="5229225" cy="4187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835497"/>
            <a:ext cx="5229225" cy="4187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1550" y="3673822"/>
            <a:ext cx="1568648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72275" y="2226022"/>
            <a:ext cx="4448175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971550" y="2226022"/>
            <a:ext cx="467058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F0FF"/>
                </a:solidFill>
                <a:latin typeface="Poppins"/>
                <a:ea typeface="Poppins"/>
                <a:cs typeface="Poppins"/>
                <a:sym typeface="Poppins"/>
              </a:rPr>
              <a:t>Polynomial Regression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971550" y="2826097"/>
            <a:ext cx="44481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system fits 3D data points to a quadratic model. This handles ball swing and height drop due to gravity.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6772275" y="4797772"/>
            <a:ext cx="44481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F0FF"/>
                </a:solidFill>
                <a:latin typeface="Lato"/>
                <a:ea typeface="Lato"/>
                <a:cs typeface="Lato"/>
                <a:sym typeface="Lato"/>
              </a:rPr>
              <a:t>Complexity: O(n)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6772275" y="5245447"/>
            <a:ext cx="44481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Linear scanning of data points to build Normal Equations.</a:t>
            </a:r>
            <a:endParaRPr/>
          </a:p>
        </p:txBody>
      </p:sp>
      <p:pic>
        <p:nvPicPr>
          <p:cNvPr id="169" name="Google Shape;169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14425" y="3832473"/>
            <a:ext cx="1282898" cy="174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91325" y="2245072"/>
            <a:ext cx="4410075" cy="23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771525" y="581025"/>
            <a:ext cx="11381422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Layer 1: Data Modeling</a:t>
            </a:r>
            <a:endParaRPr/>
          </a:p>
        </p:txBody>
      </p:sp>
      <p:sp>
        <p:nvSpPr>
          <p:cNvPr id="172" name="Google Shape;172;p18"/>
          <p:cNvSpPr/>
          <p:nvPr/>
        </p:nvSpPr>
        <p:spPr>
          <a:xfrm>
            <a:off x="581025" y="581025"/>
            <a:ext cx="57150" cy="6191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E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835497"/>
            <a:ext cx="5229225" cy="4187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835497"/>
            <a:ext cx="5229225" cy="4187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1550" y="2226022"/>
            <a:ext cx="4448175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9"/>
          <p:cNvSpPr txBox="1"/>
          <p:nvPr/>
        </p:nvSpPr>
        <p:spPr>
          <a:xfrm>
            <a:off x="971550" y="4797772"/>
            <a:ext cx="44481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F0FF"/>
                </a:solidFill>
                <a:latin typeface="Lato"/>
                <a:ea typeface="Lato"/>
                <a:cs typeface="Lato"/>
                <a:sym typeface="Lato"/>
              </a:rPr>
              <a:t>Complexity: O(k)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971550" y="5245447"/>
            <a:ext cx="44481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Evaluation at k discrete prediction intervals.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6772275" y="2226022"/>
            <a:ext cx="467058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F0FF"/>
                </a:solidFill>
                <a:latin typeface="Poppins"/>
                <a:ea typeface="Poppins"/>
                <a:cs typeface="Poppins"/>
                <a:sym typeface="Poppins"/>
              </a:rPr>
              <a:t>Horner's Method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6772275" y="2826097"/>
            <a:ext cx="44481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To predict the ball's future position past the impact point, we use Horner's scheme for efficient polynomial evaluation.</a:t>
            </a:r>
            <a:endParaRPr/>
          </a:p>
        </p:txBody>
      </p:sp>
      <p:pic>
        <p:nvPicPr>
          <p:cNvPr id="185" name="Google Shape;185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0600" y="2245072"/>
            <a:ext cx="4410075" cy="23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9"/>
          <p:cNvSpPr txBox="1"/>
          <p:nvPr/>
        </p:nvSpPr>
        <p:spPr>
          <a:xfrm>
            <a:off x="7038975" y="391194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7153275" y="3911947"/>
            <a:ext cx="40671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Extrapolates from impact (x=17.5m)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7038975" y="421674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7153275" y="4216747"/>
            <a:ext cx="40671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Predicts height (y) at stumps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7038975" y="452154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7153275" y="4521547"/>
            <a:ext cx="40671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Predicts lateral deviation (z)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771525" y="581025"/>
            <a:ext cx="11381422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Layer 2: Future Prediction</a:t>
            </a:r>
            <a:endParaRPr/>
          </a:p>
        </p:txBody>
      </p:sp>
      <p:sp>
        <p:nvSpPr>
          <p:cNvPr id="193" name="Google Shape;193;p19"/>
          <p:cNvSpPr/>
          <p:nvPr/>
        </p:nvSpPr>
        <p:spPr>
          <a:xfrm>
            <a:off x="581025" y="581025"/>
            <a:ext cx="57150" cy="6191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E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835497"/>
            <a:ext cx="5229225" cy="4187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835497"/>
            <a:ext cx="5229225" cy="4187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72275" y="2226022"/>
            <a:ext cx="4448175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 txBox="1"/>
          <p:nvPr/>
        </p:nvSpPr>
        <p:spPr>
          <a:xfrm>
            <a:off x="971550" y="2226022"/>
            <a:ext cx="467058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F0FF"/>
                </a:solidFill>
                <a:latin typeface="Poppins"/>
                <a:ea typeface="Poppins"/>
                <a:cs typeface="Poppins"/>
                <a:sym typeface="Poppins"/>
              </a:rPr>
              <a:t>Geometric Rule Engine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971550" y="2826097"/>
            <a:ext cx="44481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final "OUT" verdict is a computational geometry problem: intersection check between a point and a 3D bounding box.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6772275" y="4797772"/>
            <a:ext cx="44481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F0FF"/>
                </a:solidFill>
                <a:latin typeface="Lato"/>
                <a:ea typeface="Lato"/>
                <a:cs typeface="Lato"/>
                <a:sym typeface="Lato"/>
              </a:rPr>
              <a:t>Complexity: O(1)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6772275" y="5245447"/>
            <a:ext cx="44481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Constant time conditional boundary evaluation.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1238250" y="391194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1352550" y="3911947"/>
            <a:ext cx="40671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Stump Plane: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x = 20.0m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1238250" y="421674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1352550" y="4216747"/>
            <a:ext cx="40671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Height Check: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0.0 ≤ y ≤ 0.72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1238250" y="452154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1352550" y="4521547"/>
            <a:ext cx="40671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Width Check: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-0.115 ≤ z ≤ 0.115</a:t>
            </a:r>
            <a:endParaRPr/>
          </a:p>
        </p:txBody>
      </p:sp>
      <p:pic>
        <p:nvPicPr>
          <p:cNvPr id="212" name="Google Shape;212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91325" y="2245072"/>
            <a:ext cx="4410075" cy="23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/>
          <p:cNvSpPr txBox="1"/>
          <p:nvPr/>
        </p:nvSpPr>
        <p:spPr>
          <a:xfrm>
            <a:off x="771525" y="581025"/>
            <a:ext cx="11381422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Layer 3: Decision Logic</a:t>
            </a:r>
            <a:endParaRPr/>
          </a:p>
        </p:txBody>
      </p:sp>
      <p:sp>
        <p:nvSpPr>
          <p:cNvPr id="214" name="Google Shape;214;p20"/>
          <p:cNvSpPr/>
          <p:nvPr/>
        </p:nvSpPr>
        <p:spPr>
          <a:xfrm>
            <a:off x="581025" y="581025"/>
            <a:ext cx="57150" cy="6191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E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14875" y="4029075"/>
            <a:ext cx="68961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1"/>
          <p:cNvSpPr txBox="1"/>
          <p:nvPr/>
        </p:nvSpPr>
        <p:spPr>
          <a:xfrm>
            <a:off x="581025" y="2838450"/>
            <a:ext cx="3372000" cy="18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00" b="1" i="0" u="none" strike="noStrike" cap="none">
                <a:solidFill>
                  <a:srgbClr val="00F0FF"/>
                </a:solidFill>
                <a:latin typeface="Lato"/>
                <a:ea typeface="Lato"/>
                <a:cs typeface="Lato"/>
                <a:sym typeface="Lato"/>
              </a:rPr>
              <a:t>O(n)</a:t>
            </a:r>
            <a:endParaRPr sz="200"/>
          </a:p>
        </p:txBody>
      </p:sp>
      <p:sp>
        <p:nvSpPr>
          <p:cNvPr id="222" name="Google Shape;222;p21"/>
          <p:cNvSpPr txBox="1"/>
          <p:nvPr/>
        </p:nvSpPr>
        <p:spPr>
          <a:xfrm>
            <a:off x="581025" y="4648200"/>
            <a:ext cx="33718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Linear Performance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4714875" y="1924050"/>
            <a:ext cx="724090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F0FF"/>
                </a:solidFill>
                <a:latin typeface="Poppins"/>
                <a:ea typeface="Poppins"/>
                <a:cs typeface="Poppins"/>
                <a:sym typeface="Poppins"/>
              </a:rPr>
              <a:t>System Efficiency Analysis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4714875" y="2524125"/>
            <a:ext cx="6896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total complexity is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O(n + k)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, which asymptotically simplifies to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O(n)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4714875" y="2971800"/>
            <a:ext cx="6896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This allows the engine to process incoming video frames and tracking data in real-time without computational bottleneck, providing immediate telemetry to the dashboard.</a:t>
            </a:r>
            <a:endParaRPr/>
          </a:p>
        </p:txBody>
      </p:sp>
      <p:pic>
        <p:nvPicPr>
          <p:cNvPr id="226" name="Google Shape;226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33925" y="4048125"/>
            <a:ext cx="6858000" cy="18669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771525" y="581025"/>
            <a:ext cx="11381422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Overall Time Complexity</a:t>
            </a:r>
            <a:endParaRPr/>
          </a:p>
        </p:txBody>
      </p:sp>
      <p:sp>
        <p:nvSpPr>
          <p:cNvPr id="228" name="Google Shape;228;p21"/>
          <p:cNvSpPr/>
          <p:nvPr/>
        </p:nvSpPr>
        <p:spPr>
          <a:xfrm>
            <a:off x="581025" y="581025"/>
            <a:ext cx="57150" cy="6191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E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2"/>
          <p:cNvSpPr txBox="1"/>
          <p:nvPr/>
        </p:nvSpPr>
        <p:spPr>
          <a:xfrm>
            <a:off x="581025" y="4538662"/>
            <a:ext cx="3857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F0FF"/>
                </a:solidFill>
                <a:latin typeface="Poppins"/>
                <a:ea typeface="Poppins"/>
                <a:cs typeface="Poppins"/>
                <a:sym typeface="Poppins"/>
              </a:rPr>
              <a:t>Python 3.12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581025" y="5138737"/>
            <a:ext cx="3673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Core algorithmic implementation and modular structure.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4540597" y="4538662"/>
            <a:ext cx="341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F0FF"/>
                </a:solidFill>
                <a:latin typeface="Poppins"/>
                <a:ea typeface="Poppins"/>
                <a:cs typeface="Poppins"/>
                <a:sym typeface="Poppins"/>
              </a:rPr>
              <a:t>NumPy &amp; Math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4540597" y="5138737"/>
            <a:ext cx="3247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High-performance linear algebra and OLS solvers.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8074223" y="4538662"/>
            <a:ext cx="3713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F0FF"/>
                </a:solidFill>
                <a:latin typeface="Poppins"/>
                <a:ea typeface="Poppins"/>
                <a:cs typeface="Poppins"/>
                <a:sym typeface="Poppins"/>
              </a:rPr>
              <a:t>Streamlit &amp; Plotly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8074223" y="5138737"/>
            <a:ext cx="3537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Web dashboard and animated 3D visualization engine.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771525" y="581025"/>
            <a:ext cx="113814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Tools &amp; Technologies</a:t>
            </a:r>
            <a:endParaRPr/>
          </a:p>
        </p:txBody>
      </p:sp>
      <p:sp>
        <p:nvSpPr>
          <p:cNvPr id="241" name="Google Shape;241;p22"/>
          <p:cNvSpPr/>
          <p:nvPr/>
        </p:nvSpPr>
        <p:spPr>
          <a:xfrm>
            <a:off x="581025" y="581025"/>
            <a:ext cx="57300" cy="6192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2" name="Google Shape;24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675" y="1951675"/>
            <a:ext cx="3144575" cy="215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38413" y="1951675"/>
            <a:ext cx="3144575" cy="215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38500" y="1883900"/>
            <a:ext cx="3144575" cy="215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E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5072062"/>
            <a:ext cx="11029950" cy="1905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1" name="Google Shape;251;p23"/>
          <p:cNvGraphicFramePr/>
          <p:nvPr>
            <p:extLst>
              <p:ext uri="{D42A27DB-BD31-4B8C-83A1-F6EECF244321}">
                <p14:modId xmlns:p14="http://schemas.microsoft.com/office/powerpoint/2010/main" val="3229447848"/>
              </p:ext>
            </p:extLst>
          </p:nvPr>
        </p:nvGraphicFramePr>
        <p:xfrm>
          <a:off x="2552712" y="690637"/>
          <a:ext cx="6962775" cy="4000500"/>
        </p:xfrm>
        <a:graphic>
          <a:graphicData uri="http://schemas.openxmlformats.org/drawingml/2006/table">
            <a:tbl>
              <a:tblPr firstRow="1" bandRow="1">
                <a:noFill/>
                <a:tableStyleId>{A7CCEB7D-32CB-463F-8DCD-DF3A37646BDE}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6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0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00F0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Deliverable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00F0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Algorithmic Goal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0F0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Visual Feature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3D Path Engine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98% Accuracy Curve Fitting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Neon Trajectory Trails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Telemetry Panel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Instant velocity (O(n))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Real-time km/h Cards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Animated Simulation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Linear Interpolation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Interactive Playback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Decision Validator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Intersection logic (O(1))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Color-Coded Verdicts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52" name="Google Shape;252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325" y="4802437"/>
            <a:ext cx="10991850" cy="18669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3"/>
          <p:cNvSpPr txBox="1"/>
          <p:nvPr/>
        </p:nvSpPr>
        <p:spPr>
          <a:xfrm>
            <a:off x="810575" y="71413"/>
            <a:ext cx="113814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Expected Outcomes</a:t>
            </a:r>
            <a:endParaRPr/>
          </a:p>
        </p:txBody>
      </p:sp>
      <p:sp>
        <p:nvSpPr>
          <p:cNvPr id="254" name="Google Shape;254;p23"/>
          <p:cNvSpPr/>
          <p:nvPr/>
        </p:nvSpPr>
        <p:spPr>
          <a:xfrm>
            <a:off x="581025" y="71413"/>
            <a:ext cx="57300" cy="6192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902E1D-9D76-44E6-9F8E-E3892187EBAF}"/>
              </a:ext>
            </a:extLst>
          </p:cNvPr>
          <p:cNvSpPr txBox="1"/>
          <p:nvPr/>
        </p:nvSpPr>
        <p:spPr>
          <a:xfrm>
            <a:off x="2771775" y="923924"/>
            <a:ext cx="1466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PK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87290EF-52F0-4580-8317-ADACD6212B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8899022"/>
              </p:ext>
            </p:extLst>
          </p:nvPr>
        </p:nvGraphicFramePr>
        <p:xfrm>
          <a:off x="2676512" y="847725"/>
          <a:ext cx="6743711" cy="579120"/>
        </p:xfrm>
        <a:graphic>
          <a:graphicData uri="http://schemas.openxmlformats.org/drawingml/2006/table">
            <a:tbl>
              <a:tblPr/>
              <a:tblGrid>
                <a:gridCol w="6743711">
                  <a:extLst>
                    <a:ext uri="{9D8B030D-6E8A-4147-A177-3AD203B41FA5}">
                      <a16:colId xmlns:a16="http://schemas.microsoft.com/office/drawing/2014/main" val="2457425696"/>
                    </a:ext>
                  </a:extLst>
                </a:gridCol>
              </a:tblGrid>
              <a:tr h="577526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00F0FF"/>
                          </a:solidFill>
                          <a:effectLst/>
                          <a:latin typeface="Poppins" panose="020B0502040204020203" pitchFamily="2" charset="0"/>
                        </a:rPr>
                        <a:t>Deliverable  </a:t>
                      </a:r>
                      <a:r>
                        <a:rPr lang="en-US" dirty="0">
                          <a:solidFill>
                            <a:srgbClr val="00F0FF"/>
                          </a:solidFill>
                          <a:effectLst/>
                          <a:latin typeface="Poppins" panose="020B0502040204020203" pitchFamily="2" charset="0"/>
                        </a:rPr>
                        <a:t>                </a:t>
                      </a:r>
                      <a:r>
                        <a:rPr lang="en-US" sz="1800" b="1" i="0" u="none" strike="noStrike" cap="none" dirty="0">
                          <a:solidFill>
                            <a:srgbClr val="00F0FF"/>
                          </a:solidFill>
                          <a:effectLst/>
                          <a:latin typeface="Poppins" panose="020B0502040204020203" pitchFamily="2" charset="0"/>
                          <a:ea typeface="+mn-ea"/>
                          <a:cs typeface="+mn-cs"/>
                          <a:sym typeface="Arial"/>
                        </a:rPr>
                        <a:t>Algorithmic Goal           Visual Feature  </a:t>
                      </a:r>
                      <a:endParaRPr lang="en-US" dirty="0">
                        <a:solidFill>
                          <a:srgbClr val="00F0FF"/>
                        </a:solidFill>
                        <a:effectLst/>
                        <a:latin typeface="Poppins" panose="020B0502040204020203" pitchFamily="2" charset="0"/>
                      </a:endParaRPr>
                    </a:p>
                  </a:txBody>
                  <a:tcPr marL="152400" marR="152400" marT="152400" marB="152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1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79647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4"/>
          <p:cNvSpPr txBox="1"/>
          <p:nvPr/>
        </p:nvSpPr>
        <p:spPr>
          <a:xfrm>
            <a:off x="3785711" y="2345977"/>
            <a:ext cx="462057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0F0FF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261" name="Google Shape;261;p24"/>
          <p:cNvSpPr txBox="1"/>
          <p:nvPr/>
        </p:nvSpPr>
        <p:spPr>
          <a:xfrm>
            <a:off x="3895725" y="3488977"/>
            <a:ext cx="44005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Thank you for your attention!</a:t>
            </a:r>
            <a:endParaRPr/>
          </a:p>
        </p:txBody>
      </p:sp>
      <p:sp>
        <p:nvSpPr>
          <p:cNvPr id="262" name="Google Shape;262;p24"/>
          <p:cNvSpPr txBox="1"/>
          <p:nvPr/>
        </p:nvSpPr>
        <p:spPr>
          <a:xfrm>
            <a:off x="3895725" y="4330898"/>
            <a:ext cx="44005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0055"/>
                </a:solidFill>
                <a:latin typeface="Lato"/>
                <a:ea typeface="Lato"/>
                <a:cs typeface="Lato"/>
                <a:sym typeface="Lato"/>
              </a:rPr>
              <a:t>"The perfect decision is just an algorithm away."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E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5"/>
          <p:cNvSpPr/>
          <p:nvPr/>
        </p:nvSpPr>
        <p:spPr>
          <a:xfrm>
            <a:off x="581025" y="1480542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5"/>
          <p:cNvSpPr/>
          <p:nvPr/>
        </p:nvSpPr>
        <p:spPr>
          <a:xfrm>
            <a:off x="581025" y="2265312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5"/>
          <p:cNvSpPr/>
          <p:nvPr/>
        </p:nvSpPr>
        <p:spPr>
          <a:xfrm>
            <a:off x="581025" y="3050083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5"/>
          <p:cNvSpPr/>
          <p:nvPr/>
        </p:nvSpPr>
        <p:spPr>
          <a:xfrm>
            <a:off x="581025" y="3834854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5"/>
          <p:cNvSpPr/>
          <p:nvPr/>
        </p:nvSpPr>
        <p:spPr>
          <a:xfrm>
            <a:off x="581025" y="4619625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5"/>
          <p:cNvSpPr/>
          <p:nvPr/>
        </p:nvSpPr>
        <p:spPr>
          <a:xfrm>
            <a:off x="581025" y="225578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5"/>
          <p:cNvSpPr/>
          <p:nvPr/>
        </p:nvSpPr>
        <p:spPr>
          <a:xfrm>
            <a:off x="581025" y="225578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5"/>
          <p:cNvSpPr/>
          <p:nvPr/>
        </p:nvSpPr>
        <p:spPr>
          <a:xfrm>
            <a:off x="581025" y="304055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5"/>
          <p:cNvSpPr/>
          <p:nvPr/>
        </p:nvSpPr>
        <p:spPr>
          <a:xfrm>
            <a:off x="581025" y="304055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5"/>
          <p:cNvSpPr/>
          <p:nvPr/>
        </p:nvSpPr>
        <p:spPr>
          <a:xfrm>
            <a:off x="581025" y="3825329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5"/>
          <p:cNvSpPr/>
          <p:nvPr/>
        </p:nvSpPr>
        <p:spPr>
          <a:xfrm>
            <a:off x="581025" y="3825329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5"/>
          <p:cNvSpPr/>
          <p:nvPr/>
        </p:nvSpPr>
        <p:spPr>
          <a:xfrm>
            <a:off x="581025" y="461010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5"/>
          <p:cNvSpPr/>
          <p:nvPr/>
        </p:nvSpPr>
        <p:spPr>
          <a:xfrm>
            <a:off x="581025" y="461010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5"/>
          <p:cNvSpPr/>
          <p:nvPr/>
        </p:nvSpPr>
        <p:spPr>
          <a:xfrm>
            <a:off x="581025" y="539487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5"/>
          <p:cNvSpPr/>
          <p:nvPr/>
        </p:nvSpPr>
        <p:spPr>
          <a:xfrm>
            <a:off x="581025" y="539487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62996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5"/>
          <p:cNvSpPr txBox="1"/>
          <p:nvPr/>
        </p:nvSpPr>
        <p:spPr>
          <a:xfrm>
            <a:off x="1676400" y="1623417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https://png.pngtree.com/png-clipart/20230131/ourmid/pngtree-stadium-white-lighting-effects-png-image_6579537.png</a:t>
            </a:r>
            <a:endParaRPr/>
          </a:p>
        </p:txBody>
      </p:sp>
      <p:sp>
        <p:nvSpPr>
          <p:cNvPr id="285" name="Google Shape;285;p25"/>
          <p:cNvSpPr txBox="1"/>
          <p:nvPr/>
        </p:nvSpPr>
        <p:spPr>
          <a:xfrm>
            <a:off x="1676400" y="1869132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pngtree.com</a:t>
            </a:r>
            <a:endParaRPr/>
          </a:p>
        </p:txBody>
      </p:sp>
      <p:pic>
        <p:nvPicPr>
          <p:cNvPr id="286" name="Google Shape;286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41473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5"/>
          <p:cNvSpPr txBox="1"/>
          <p:nvPr/>
        </p:nvSpPr>
        <p:spPr>
          <a:xfrm>
            <a:off x="1676400" y="2408187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https://prajithnakarnimana.wordpress.com/wp-content/uploads/2020/05/steve-bucknor.jpg?w=1024</a:t>
            </a:r>
            <a:endParaRPr/>
          </a:p>
        </p:txBody>
      </p:sp>
      <p:sp>
        <p:nvSpPr>
          <p:cNvPr id="288" name="Google Shape;288;p25"/>
          <p:cNvSpPr txBox="1"/>
          <p:nvPr/>
        </p:nvSpPr>
        <p:spPr>
          <a:xfrm>
            <a:off x="1676400" y="2653903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prajithnakarnimana.wordpress.com</a:t>
            </a:r>
            <a:endParaRPr/>
          </a:p>
        </p:txBody>
      </p:sp>
      <p:pic>
        <p:nvPicPr>
          <p:cNvPr id="289" name="Google Shape;289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19950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5"/>
          <p:cNvSpPr txBox="1"/>
          <p:nvPr/>
        </p:nvSpPr>
        <p:spPr>
          <a:xfrm>
            <a:off x="1676400" y="3192958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https://miro.medium.com/0*UsMrQecD7dpJcYhe.jpg</a:t>
            </a:r>
            <a:endParaRPr/>
          </a:p>
        </p:txBody>
      </p:sp>
      <p:sp>
        <p:nvSpPr>
          <p:cNvPr id="291" name="Google Shape;291;p25"/>
          <p:cNvSpPr txBox="1"/>
          <p:nvPr/>
        </p:nvSpPr>
        <p:spPr>
          <a:xfrm>
            <a:off x="1676400" y="3438673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medium.com</a:t>
            </a:r>
            <a:endParaRPr/>
          </a:p>
        </p:txBody>
      </p:sp>
      <p:pic>
        <p:nvPicPr>
          <p:cNvPr id="292" name="Google Shape;292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398427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5"/>
          <p:cNvSpPr txBox="1"/>
          <p:nvPr/>
        </p:nvSpPr>
        <p:spPr>
          <a:xfrm>
            <a:off x="1676400" y="3977729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https://scales.arabpsychology.com/wp-content/uploads/2023/11/quadratictrend5.png</a:t>
            </a:r>
            <a:endParaRPr/>
          </a:p>
        </p:txBody>
      </p:sp>
      <p:sp>
        <p:nvSpPr>
          <p:cNvPr id="294" name="Google Shape;294;p25"/>
          <p:cNvSpPr txBox="1"/>
          <p:nvPr/>
        </p:nvSpPr>
        <p:spPr>
          <a:xfrm>
            <a:off x="1676400" y="4223444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scales.arabpsychology.com</a:t>
            </a:r>
            <a:endParaRPr/>
          </a:p>
        </p:txBody>
      </p:sp>
      <p:pic>
        <p:nvPicPr>
          <p:cNvPr id="295" name="Google Shape;295;p2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476904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5"/>
          <p:cNvSpPr txBox="1"/>
          <p:nvPr/>
        </p:nvSpPr>
        <p:spPr>
          <a:xfrm>
            <a:off x="1676400" y="4762500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https://www.montecarlodata.com/wp-content/uploads/2023/07/Data-pipeline-architecture-swimply-1024x492.jpg</a:t>
            </a:r>
            <a:endParaRPr/>
          </a:p>
        </p:txBody>
      </p:sp>
      <p:sp>
        <p:nvSpPr>
          <p:cNvPr id="297" name="Google Shape;297;p25"/>
          <p:cNvSpPr txBox="1"/>
          <p:nvPr/>
        </p:nvSpPr>
        <p:spPr>
          <a:xfrm>
            <a:off x="1676400" y="5008215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www.montecarlodata.com</a:t>
            </a:r>
            <a:endParaRPr/>
          </a:p>
        </p:txBody>
      </p:sp>
      <p:pic>
        <p:nvPicPr>
          <p:cNvPr id="298" name="Google Shape;298;p2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81025" y="565293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5"/>
          <p:cNvSpPr txBox="1"/>
          <p:nvPr/>
        </p:nvSpPr>
        <p:spPr>
          <a:xfrm>
            <a:off x="1676400" y="5547270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https://media.istockphoto.com/id/1504077057/video/slow-motion-cricket-ball-striking-wickets.jpg?s=640x640&amp;k=20&amp;c=R5W1XIqXm5Md6rmWqMP-ElAtJz4AWfEFebsTD0q8Euw=</a:t>
            </a:r>
            <a:endParaRPr/>
          </a:p>
        </p:txBody>
      </p:sp>
      <p:sp>
        <p:nvSpPr>
          <p:cNvPr id="300" name="Google Shape;300;p25"/>
          <p:cNvSpPr txBox="1"/>
          <p:nvPr/>
        </p:nvSpPr>
        <p:spPr>
          <a:xfrm>
            <a:off x="1676400" y="5991076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www.istockphoto.com</a:t>
            </a:r>
            <a:endParaRPr/>
          </a:p>
        </p:txBody>
      </p:sp>
      <p:sp>
        <p:nvSpPr>
          <p:cNvPr id="301" name="Google Shape;301;p25"/>
          <p:cNvSpPr txBox="1"/>
          <p:nvPr/>
        </p:nvSpPr>
        <p:spPr>
          <a:xfrm>
            <a:off x="771525" y="480417"/>
            <a:ext cx="11381422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302" name="Google Shape;302;p25"/>
          <p:cNvSpPr/>
          <p:nvPr/>
        </p:nvSpPr>
        <p:spPr>
          <a:xfrm>
            <a:off x="581025" y="480417"/>
            <a:ext cx="57150" cy="6191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E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6"/>
          <p:cNvSpPr/>
          <p:nvPr/>
        </p:nvSpPr>
        <p:spPr>
          <a:xfrm>
            <a:off x="1909762" y="2756594"/>
            <a:ext cx="8372475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6"/>
          <p:cNvSpPr/>
          <p:nvPr/>
        </p:nvSpPr>
        <p:spPr>
          <a:xfrm>
            <a:off x="1909762" y="3541365"/>
            <a:ext cx="8372475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6"/>
          <p:cNvSpPr/>
          <p:nvPr/>
        </p:nvSpPr>
        <p:spPr>
          <a:xfrm>
            <a:off x="1909762" y="3531840"/>
            <a:ext cx="83724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6"/>
          <p:cNvSpPr/>
          <p:nvPr/>
        </p:nvSpPr>
        <p:spPr>
          <a:xfrm>
            <a:off x="1909762" y="3531840"/>
            <a:ext cx="83724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6"/>
          <p:cNvSpPr/>
          <p:nvPr/>
        </p:nvSpPr>
        <p:spPr>
          <a:xfrm>
            <a:off x="1909762" y="4316610"/>
            <a:ext cx="83724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6"/>
          <p:cNvSpPr/>
          <p:nvPr/>
        </p:nvSpPr>
        <p:spPr>
          <a:xfrm>
            <a:off x="1909762" y="4316610"/>
            <a:ext cx="83724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4" name="Google Shape;314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09762" y="290601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6"/>
          <p:cNvSpPr txBox="1"/>
          <p:nvPr/>
        </p:nvSpPr>
        <p:spPr>
          <a:xfrm>
            <a:off x="3005137" y="2899469"/>
            <a:ext cx="7277100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https://media.easy-peasy.ai/b6bf4e7c-c927-464f-82e5-95aaefa9ed93/b9754c20-5408-4b49-a411-2f84e6dd3c76_medium.webp</a:t>
            </a:r>
            <a:endParaRPr/>
          </a:p>
        </p:txBody>
      </p:sp>
      <p:sp>
        <p:nvSpPr>
          <p:cNvPr id="316" name="Google Shape;316;p26"/>
          <p:cNvSpPr txBox="1"/>
          <p:nvPr/>
        </p:nvSpPr>
        <p:spPr>
          <a:xfrm>
            <a:off x="3005137" y="3145184"/>
            <a:ext cx="72771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easy-peasy.ai</a:t>
            </a:r>
            <a:endParaRPr/>
          </a:p>
        </p:txBody>
      </p:sp>
      <p:pic>
        <p:nvPicPr>
          <p:cNvPr id="317" name="Google Shape;317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09762" y="369078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6"/>
          <p:cNvSpPr txBox="1"/>
          <p:nvPr/>
        </p:nvSpPr>
        <p:spPr>
          <a:xfrm>
            <a:off x="3005137" y="3684240"/>
            <a:ext cx="7277100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https://assets.visme.co/templates/whiteboards/thumbnails/i_Sports-Analytics-Dashboard-Whiteboard_full.jpg</a:t>
            </a:r>
            <a:endParaRPr/>
          </a:p>
        </p:txBody>
      </p:sp>
      <p:sp>
        <p:nvSpPr>
          <p:cNvPr id="319" name="Google Shape;319;p26"/>
          <p:cNvSpPr txBox="1"/>
          <p:nvPr/>
        </p:nvSpPr>
        <p:spPr>
          <a:xfrm>
            <a:off x="3005137" y="3929955"/>
            <a:ext cx="72771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www.visme.co</a:t>
            </a:r>
            <a:endParaRPr/>
          </a:p>
        </p:txBody>
      </p:sp>
      <p:pic>
        <p:nvPicPr>
          <p:cNvPr id="320" name="Google Shape;320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09762" y="447555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6"/>
          <p:cNvSpPr txBox="1"/>
          <p:nvPr/>
        </p:nvSpPr>
        <p:spPr>
          <a:xfrm>
            <a:off x="3005137" y="4469010"/>
            <a:ext cx="7277100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https://gstatic1.promeai.pro/gallery/publish/2024/10/16/a490f99d14ae4f749fdc60ce71fc34a4.jpg</a:t>
            </a:r>
            <a:endParaRPr/>
          </a:p>
        </p:txBody>
      </p:sp>
      <p:sp>
        <p:nvSpPr>
          <p:cNvPr id="322" name="Google Shape;322;p26"/>
          <p:cNvSpPr txBox="1"/>
          <p:nvPr/>
        </p:nvSpPr>
        <p:spPr>
          <a:xfrm>
            <a:off x="3005137" y="4714726"/>
            <a:ext cx="72771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www.promeai.pro</a:t>
            </a:r>
            <a:endParaRPr/>
          </a:p>
        </p:txBody>
      </p:sp>
      <p:sp>
        <p:nvSpPr>
          <p:cNvPr id="323" name="Google Shape;323;p26"/>
          <p:cNvSpPr txBox="1"/>
          <p:nvPr/>
        </p:nvSpPr>
        <p:spPr>
          <a:xfrm>
            <a:off x="771525" y="581025"/>
            <a:ext cx="11381422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324" name="Google Shape;324;p26"/>
          <p:cNvSpPr/>
          <p:nvPr/>
        </p:nvSpPr>
        <p:spPr>
          <a:xfrm>
            <a:off x="581025" y="581025"/>
            <a:ext cx="57150" cy="6191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832</Words>
  <Application>Microsoft Office PowerPoint</Application>
  <PresentationFormat>Widescreen</PresentationFormat>
  <Paragraphs>112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Lato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Ghulam Qadir</cp:lastModifiedBy>
  <cp:revision>1</cp:revision>
  <dcterms:modified xsi:type="dcterms:W3CDTF">2026-05-16T07:49:54Z</dcterms:modified>
</cp:coreProperties>
</file>